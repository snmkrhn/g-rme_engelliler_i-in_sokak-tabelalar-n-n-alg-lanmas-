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Sedgwick Ave" charset="1" panose="00000500000000000000"/>
      <p:regular r:id="rId21"/>
    </p:embeddedFont>
    <p:embeddedFont>
      <p:font typeface="Open Sauce Bold" charset="1" panose="00000800000000000000"/>
      <p:regular r:id="rId22"/>
    </p:embeddedFont>
    <p:embeddedFont>
      <p:font typeface="Open Sauce" charset="1" panose="00000500000000000000"/>
      <p:regular r:id="rId23"/>
    </p:embeddedFont>
    <p:embeddedFont>
      <p:font typeface="Hussar Bold" charset="1" panose="00000800000000000000"/>
      <p:regular r:id="rId24"/>
    </p:embeddedFont>
    <p:embeddedFont>
      <p:font typeface="Arimo" charset="1" panose="020B0604020202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1666998"/>
          </a:xfrm>
          <a:custGeom>
            <a:avLst/>
            <a:gdLst/>
            <a:ahLst/>
            <a:cxnLst/>
            <a:rect r="r" b="b" t="t" l="l"/>
            <a:pathLst>
              <a:path h="11666998" w="18288000">
                <a:moveTo>
                  <a:pt x="0" y="0"/>
                </a:moveTo>
                <a:lnTo>
                  <a:pt x="18288000" y="0"/>
                </a:lnTo>
                <a:lnTo>
                  <a:pt x="18288000" y="11666998"/>
                </a:lnTo>
                <a:lnTo>
                  <a:pt x="0" y="11666998"/>
                </a:lnTo>
                <a:lnTo>
                  <a:pt x="0" y="0"/>
                </a:lnTo>
                <a:close/>
              </a:path>
            </a:pathLst>
          </a:custGeom>
          <a:blipFill>
            <a:blip r:embed="rId2">
              <a:alphaModFix amt="63000"/>
            </a:blip>
            <a:stretch>
              <a:fillRect l="-658" t="-417" r="0" b="-4705"/>
            </a:stretch>
          </a:blipFill>
        </p:spPr>
      </p:sp>
      <p:sp>
        <p:nvSpPr>
          <p:cNvPr name="TextBox 3" id="3"/>
          <p:cNvSpPr txBox="true"/>
          <p:nvPr/>
        </p:nvSpPr>
        <p:spPr>
          <a:xfrm rot="0">
            <a:off x="1801898" y="6938530"/>
            <a:ext cx="5823316" cy="547425"/>
          </a:xfrm>
          <a:prstGeom prst="rect">
            <a:avLst/>
          </a:prstGeom>
        </p:spPr>
        <p:txBody>
          <a:bodyPr anchor="t" rtlCol="false" tIns="0" lIns="0" bIns="0" rIns="0">
            <a:spAutoFit/>
          </a:bodyPr>
          <a:lstStyle/>
          <a:p>
            <a:pPr algn="ctr">
              <a:lnSpc>
                <a:spcPts val="4479"/>
              </a:lnSpc>
              <a:spcBef>
                <a:spcPct val="0"/>
              </a:spcBef>
            </a:pPr>
            <a:r>
              <a:rPr lang="en-US" sz="3199" spc="6">
                <a:solidFill>
                  <a:srgbClr val="FFFFFF"/>
                </a:solidFill>
                <a:latin typeface="Sedgwick Ave"/>
                <a:ea typeface="Sedgwick Ave"/>
                <a:cs typeface="Sedgwick Ave"/>
                <a:sym typeface="Sedgwick Ave"/>
              </a:rPr>
              <a:t>MERVE SİNEM KARAHAN</a:t>
            </a:r>
          </a:p>
        </p:txBody>
      </p:sp>
      <p:sp>
        <p:nvSpPr>
          <p:cNvPr name="TextBox 4" id="4"/>
          <p:cNvSpPr txBox="true"/>
          <p:nvPr/>
        </p:nvSpPr>
        <p:spPr>
          <a:xfrm rot="0">
            <a:off x="1028700" y="7428805"/>
            <a:ext cx="4747340" cy="472452"/>
          </a:xfrm>
          <a:prstGeom prst="rect">
            <a:avLst/>
          </a:prstGeom>
        </p:spPr>
        <p:txBody>
          <a:bodyPr anchor="t" rtlCol="false" tIns="0" lIns="0" bIns="0" rIns="0">
            <a:spAutoFit/>
          </a:bodyPr>
          <a:lstStyle/>
          <a:p>
            <a:pPr algn="r">
              <a:lnSpc>
                <a:spcPts val="3881"/>
              </a:lnSpc>
            </a:pPr>
            <a:r>
              <a:rPr lang="en-US" sz="2772">
                <a:solidFill>
                  <a:srgbClr val="FFFFFF"/>
                </a:solidFill>
                <a:latin typeface="Sedgwick Ave"/>
                <a:ea typeface="Sedgwick Ave"/>
                <a:cs typeface="Sedgwick Ave"/>
                <a:sym typeface="Sedgwick Ave"/>
              </a:rPr>
              <a:t>220260126</a:t>
            </a:r>
          </a:p>
        </p:txBody>
      </p:sp>
      <p:sp>
        <p:nvSpPr>
          <p:cNvPr name="TextBox 5" id="5"/>
          <p:cNvSpPr txBox="true"/>
          <p:nvPr/>
        </p:nvSpPr>
        <p:spPr>
          <a:xfrm rot="0">
            <a:off x="597307" y="8776942"/>
            <a:ext cx="7525668" cy="481358"/>
          </a:xfrm>
          <a:prstGeom prst="rect">
            <a:avLst/>
          </a:prstGeom>
        </p:spPr>
        <p:txBody>
          <a:bodyPr anchor="t" rtlCol="false" tIns="0" lIns="0" bIns="0" rIns="0">
            <a:spAutoFit/>
          </a:bodyPr>
          <a:lstStyle/>
          <a:p>
            <a:pPr algn="ctr">
              <a:lnSpc>
                <a:spcPts val="3919"/>
              </a:lnSpc>
              <a:spcBef>
                <a:spcPct val="0"/>
              </a:spcBef>
            </a:pPr>
            <a:r>
              <a:rPr lang="en-US" sz="2799" spc="5">
                <a:solidFill>
                  <a:srgbClr val="FFFFFF"/>
                </a:solidFill>
                <a:latin typeface="Sedgwick Ave"/>
                <a:ea typeface="Sedgwick Ave"/>
                <a:cs typeface="Sedgwick Ave"/>
                <a:sym typeface="Sedgwick Ave"/>
              </a:rPr>
              <a:t>TEZ DANIŞMANI:PROF.DR.MEHMET KARAKÖSE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400000">
            <a:off x="10229461" y="5506688"/>
            <a:ext cx="9145756" cy="9162415"/>
          </a:xfrm>
          <a:custGeom>
            <a:avLst/>
            <a:gdLst/>
            <a:ahLst/>
            <a:cxnLst/>
            <a:rect r="r" b="b" t="t" l="l"/>
            <a:pathLst>
              <a:path h="9162415" w="9145756">
                <a:moveTo>
                  <a:pt x="9145756" y="0"/>
                </a:moveTo>
                <a:lnTo>
                  <a:pt x="0" y="0"/>
                </a:lnTo>
                <a:lnTo>
                  <a:pt x="0" y="9162415"/>
                </a:lnTo>
                <a:lnTo>
                  <a:pt x="9145756" y="9162415"/>
                </a:lnTo>
                <a:lnTo>
                  <a:pt x="914575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7313" y="-2157392"/>
            <a:ext cx="7672410" cy="7672410"/>
          </a:xfrm>
          <a:custGeom>
            <a:avLst/>
            <a:gdLst/>
            <a:ahLst/>
            <a:cxnLst/>
            <a:rect r="r" b="b" t="t" l="l"/>
            <a:pathLst>
              <a:path h="7672410" w="7672410">
                <a:moveTo>
                  <a:pt x="0" y="0"/>
                </a:moveTo>
                <a:lnTo>
                  <a:pt x="7672409" y="0"/>
                </a:lnTo>
                <a:lnTo>
                  <a:pt x="7672409" y="7672409"/>
                </a:lnTo>
                <a:lnTo>
                  <a:pt x="0" y="76724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65473" y="2021808"/>
            <a:ext cx="7100923" cy="946576"/>
          </a:xfrm>
          <a:prstGeom prst="rect">
            <a:avLst/>
          </a:prstGeom>
        </p:spPr>
        <p:txBody>
          <a:bodyPr anchor="t" rtlCol="false" tIns="0" lIns="0" bIns="0" rIns="0">
            <a:spAutoFit/>
          </a:bodyPr>
          <a:lstStyle/>
          <a:p>
            <a:pPr algn="just" marL="0" indent="0" lvl="0">
              <a:lnSpc>
                <a:spcPts val="7353"/>
              </a:lnSpc>
            </a:pPr>
            <a:r>
              <a:rPr lang="en-US" sz="6339" spc="-297">
                <a:solidFill>
                  <a:srgbClr val="FFFFFF"/>
                </a:solidFill>
                <a:latin typeface="Sedgwick Ave"/>
                <a:ea typeface="Sedgwick Ave"/>
                <a:cs typeface="Sedgwick Ave"/>
                <a:sym typeface="Sedgwick Ave"/>
              </a:rPr>
              <a:t>PROJENİN AMACI</a:t>
            </a:r>
          </a:p>
        </p:txBody>
      </p:sp>
      <p:sp>
        <p:nvSpPr>
          <p:cNvPr name="TextBox 5" id="5"/>
          <p:cNvSpPr txBox="true"/>
          <p:nvPr/>
        </p:nvSpPr>
        <p:spPr>
          <a:xfrm rot="0">
            <a:off x="8300810" y="971550"/>
            <a:ext cx="8593465" cy="7186481"/>
          </a:xfrm>
          <a:prstGeom prst="rect">
            <a:avLst/>
          </a:prstGeom>
        </p:spPr>
        <p:txBody>
          <a:bodyPr anchor="t" rtlCol="false" tIns="0" lIns="0" bIns="0" rIns="0">
            <a:spAutoFit/>
          </a:bodyPr>
          <a:lstStyle/>
          <a:p>
            <a:pPr algn="just">
              <a:lnSpc>
                <a:spcPts val="3846"/>
              </a:lnSpc>
              <a:spcBef>
                <a:spcPct val="0"/>
              </a:spcBef>
            </a:pPr>
            <a:r>
              <a:rPr lang="en-US" b="true" sz="2747" spc="5">
                <a:solidFill>
                  <a:srgbClr val="FFFFFF"/>
                </a:solidFill>
                <a:latin typeface="Open Sauce Bold"/>
                <a:ea typeface="Open Sauce Bold"/>
                <a:cs typeface="Open Sauce Bold"/>
                <a:sym typeface="Open Sauce Bold"/>
              </a:rPr>
              <a:t>Görme engelli bireylerin şehir ortamlarında yön bulma ve çevresel farkındalık gibi zorluklarını azaltmak amacıyla, sokak tabelalarını gerçek zamanlı olarak algılayabilen yapay zekâ destekli bir sistem geliştirilmiştir. Bu sistem, YOLOv8 modeli ile yüksek doğrulukta tabela tespiti yapmakta ve algılanan görselleri sesli bildirimle kullanıcıya iletmektedir.Veri gizliliğini korum</a:t>
            </a:r>
            <a:r>
              <a:rPr lang="en-US" b="true" sz="2747" spc="5">
                <a:solidFill>
                  <a:srgbClr val="FFFFFF"/>
                </a:solidFill>
                <a:latin typeface="Open Sauce Bold"/>
                <a:ea typeface="Open Sauce Bold"/>
                <a:cs typeface="Open Sauce Bold"/>
                <a:sym typeface="Open Sauce Bold"/>
              </a:rPr>
              <a:t>ak için geleneksel merkezi öğrenme yerine Federated Learning (Federatif Öğrenme) mimarisi kullanılmıştır. Böylece veriler cihazda kalırken sadece model ağırlıkları paylaşılmış, gizlilik ihlalleri önlenmiştir.Proje; teknik başarısının yanında, sosyal fayda sağlayan erişilebilirlik odaklı bir çözüm sunmayı hedeflemektedir.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400000">
            <a:off x="11302596" y="4337167"/>
            <a:ext cx="6979048" cy="6991760"/>
          </a:xfrm>
          <a:custGeom>
            <a:avLst/>
            <a:gdLst/>
            <a:ahLst/>
            <a:cxnLst/>
            <a:rect r="r" b="b" t="t" l="l"/>
            <a:pathLst>
              <a:path h="6991760" w="6979048">
                <a:moveTo>
                  <a:pt x="6979048" y="0"/>
                </a:moveTo>
                <a:lnTo>
                  <a:pt x="0" y="0"/>
                </a:lnTo>
                <a:lnTo>
                  <a:pt x="0" y="6991760"/>
                </a:lnTo>
                <a:lnTo>
                  <a:pt x="6979048" y="6991760"/>
                </a:lnTo>
                <a:lnTo>
                  <a:pt x="697904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349987" y="-846320"/>
            <a:ext cx="5423701" cy="5423701"/>
          </a:xfrm>
          <a:custGeom>
            <a:avLst/>
            <a:gdLst/>
            <a:ahLst/>
            <a:cxnLst/>
            <a:rect r="r" b="b" t="t" l="l"/>
            <a:pathLst>
              <a:path h="5423701" w="5423701">
                <a:moveTo>
                  <a:pt x="0" y="5423700"/>
                </a:moveTo>
                <a:lnTo>
                  <a:pt x="5423700" y="5423700"/>
                </a:lnTo>
                <a:lnTo>
                  <a:pt x="5423700" y="0"/>
                </a:lnTo>
                <a:lnTo>
                  <a:pt x="0" y="0"/>
                </a:lnTo>
                <a:lnTo>
                  <a:pt x="0" y="54237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775057" y="3347871"/>
            <a:ext cx="5940881" cy="6600496"/>
          </a:xfrm>
          <a:prstGeom prst="rect">
            <a:avLst/>
          </a:prstGeom>
        </p:spPr>
        <p:txBody>
          <a:bodyPr anchor="t" rtlCol="false" tIns="0" lIns="0" bIns="0" rIns="0">
            <a:spAutoFit/>
          </a:bodyPr>
          <a:lstStyle/>
          <a:p>
            <a:pPr algn="just">
              <a:lnSpc>
                <a:spcPts val="3326"/>
              </a:lnSpc>
            </a:pPr>
            <a:r>
              <a:rPr lang="en-US" sz="2376" spc="4">
                <a:solidFill>
                  <a:srgbClr val="FFFFFF"/>
                </a:solidFill>
                <a:latin typeface="Open Sauce"/>
                <a:ea typeface="Open Sauce"/>
                <a:cs typeface="Open Sauce"/>
                <a:sym typeface="Open Sauce"/>
              </a:rPr>
              <a:t>📡 Her istemci (kullanıcı cihazı), kendi çevresinden tabela verisi toplar ve yerel olarak modelini eğitir.</a:t>
            </a:r>
          </a:p>
          <a:p>
            <a:pPr algn="just">
              <a:lnSpc>
                <a:spcPts val="3326"/>
              </a:lnSpc>
            </a:pPr>
            <a:r>
              <a:rPr lang="en-US" sz="2376" spc="4">
                <a:solidFill>
                  <a:srgbClr val="FFFFFF"/>
                </a:solidFill>
                <a:latin typeface="Open Sauce"/>
                <a:ea typeface="Open Sauce"/>
                <a:cs typeface="Open Sauce"/>
                <a:sym typeface="Open Sauce"/>
              </a:rPr>
              <a:t>🔒 Kişisel veriler hiçbir zaman sunucuya gönderilmez; yalnızca model ağırlıkları paylaşılır.</a:t>
            </a:r>
          </a:p>
          <a:p>
            <a:pPr algn="just">
              <a:lnSpc>
                <a:spcPts val="3326"/>
              </a:lnSpc>
            </a:pPr>
            <a:r>
              <a:rPr lang="en-US" sz="2376" spc="4">
                <a:solidFill>
                  <a:srgbClr val="FFFFFF"/>
                </a:solidFill>
                <a:latin typeface="Open Sauce"/>
                <a:ea typeface="Open Sauce"/>
                <a:cs typeface="Open Sauce"/>
                <a:sym typeface="Open Sauce"/>
              </a:rPr>
              <a:t>🧠 Merkezi sunucu, tüm istemcilerden gelen ağırlıkları birleştirerek küresel (global) modeli oluşturur.</a:t>
            </a:r>
          </a:p>
          <a:p>
            <a:pPr algn="just">
              <a:lnSpc>
                <a:spcPts val="3326"/>
              </a:lnSpc>
            </a:pPr>
            <a:r>
              <a:rPr lang="en-US" sz="2376" spc="4">
                <a:solidFill>
                  <a:srgbClr val="FFFFFF"/>
                </a:solidFill>
                <a:latin typeface="Open Sauce"/>
                <a:ea typeface="Open Sauce"/>
                <a:cs typeface="Open Sauce"/>
                <a:sym typeface="Open Sauce"/>
              </a:rPr>
              <a:t>🔁 Güncellenmiş model istemcilere geri gönderilir ve sistem sürekli olarak iyileştirilir.</a:t>
            </a:r>
          </a:p>
          <a:p>
            <a:pPr algn="just">
              <a:lnSpc>
                <a:spcPts val="3326"/>
              </a:lnSpc>
              <a:spcBef>
                <a:spcPct val="0"/>
              </a:spcBef>
            </a:pPr>
            <a:r>
              <a:rPr lang="en-US" sz="2376" spc="4">
                <a:solidFill>
                  <a:srgbClr val="FFFFFF"/>
                </a:solidFill>
                <a:latin typeface="Open Sauce"/>
                <a:ea typeface="Open Sauce"/>
                <a:cs typeface="Open Sauce"/>
                <a:sym typeface="Open Sauce"/>
              </a:rPr>
              <a:t>✅ Bu yapı, veri gizliliğini korurken farklı kullanıcı senaryolarında yüksek doğrulukta tabela tespiti sağlar.</a:t>
            </a:r>
          </a:p>
          <a:p>
            <a:pPr algn="just">
              <a:lnSpc>
                <a:spcPts val="3326"/>
              </a:lnSpc>
              <a:spcBef>
                <a:spcPct val="0"/>
              </a:spcBef>
            </a:pPr>
          </a:p>
        </p:txBody>
      </p:sp>
      <p:sp>
        <p:nvSpPr>
          <p:cNvPr name="TextBox 5" id="5"/>
          <p:cNvSpPr txBox="true"/>
          <p:nvPr/>
        </p:nvSpPr>
        <p:spPr>
          <a:xfrm rot="0">
            <a:off x="638511" y="1417511"/>
            <a:ext cx="5384860" cy="962714"/>
          </a:xfrm>
          <a:prstGeom prst="rect">
            <a:avLst/>
          </a:prstGeom>
        </p:spPr>
        <p:txBody>
          <a:bodyPr anchor="t" rtlCol="false" tIns="0" lIns="0" bIns="0" rIns="0">
            <a:spAutoFit/>
          </a:bodyPr>
          <a:lstStyle/>
          <a:p>
            <a:pPr algn="just" marL="0" indent="0" lvl="0">
              <a:lnSpc>
                <a:spcPts val="7479"/>
              </a:lnSpc>
            </a:pPr>
            <a:r>
              <a:rPr lang="en-US" sz="6799" spc="13">
                <a:solidFill>
                  <a:srgbClr val="FFFFFF"/>
                </a:solidFill>
                <a:latin typeface="Sedgwick Ave"/>
                <a:ea typeface="Sedgwick Ave"/>
                <a:cs typeface="Sedgwick Ave"/>
                <a:sym typeface="Sedgwick Ave"/>
              </a:rPr>
              <a:t>YÖNTEM</a:t>
            </a:r>
          </a:p>
        </p:txBody>
      </p:sp>
      <p:sp>
        <p:nvSpPr>
          <p:cNvPr name="Freeform 6" id="6"/>
          <p:cNvSpPr/>
          <p:nvPr/>
        </p:nvSpPr>
        <p:spPr>
          <a:xfrm flipH="false" flipV="false" rot="0">
            <a:off x="11063951" y="487303"/>
            <a:ext cx="6991760" cy="6386211"/>
          </a:xfrm>
          <a:custGeom>
            <a:avLst/>
            <a:gdLst/>
            <a:ahLst/>
            <a:cxnLst/>
            <a:rect r="r" b="b" t="t" l="l"/>
            <a:pathLst>
              <a:path h="6386211" w="6991760">
                <a:moveTo>
                  <a:pt x="0" y="0"/>
                </a:moveTo>
                <a:lnTo>
                  <a:pt x="6991761" y="0"/>
                </a:lnTo>
                <a:lnTo>
                  <a:pt x="6991761" y="6386211"/>
                </a:lnTo>
                <a:lnTo>
                  <a:pt x="0" y="6386211"/>
                </a:lnTo>
                <a:lnTo>
                  <a:pt x="0" y="0"/>
                </a:lnTo>
                <a:close/>
              </a:path>
            </a:pathLst>
          </a:custGeom>
          <a:blipFill>
            <a:blip r:embed="rId6"/>
            <a:stretch>
              <a:fillRect l="-5015" t="-3037" r="0" b="-1408"/>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493371" y="1844145"/>
            <a:ext cx="11301259" cy="3498459"/>
          </a:xfrm>
          <a:custGeom>
            <a:avLst/>
            <a:gdLst/>
            <a:ahLst/>
            <a:cxnLst/>
            <a:rect r="r" b="b" t="t" l="l"/>
            <a:pathLst>
              <a:path h="3498459" w="11301259">
                <a:moveTo>
                  <a:pt x="0" y="0"/>
                </a:moveTo>
                <a:lnTo>
                  <a:pt x="11301258" y="0"/>
                </a:lnTo>
                <a:lnTo>
                  <a:pt x="11301258" y="3498459"/>
                </a:lnTo>
                <a:lnTo>
                  <a:pt x="0" y="3498459"/>
                </a:lnTo>
                <a:lnTo>
                  <a:pt x="0" y="0"/>
                </a:lnTo>
                <a:close/>
              </a:path>
            </a:pathLst>
          </a:custGeom>
          <a:blipFill>
            <a:blip r:embed="rId2"/>
            <a:stretch>
              <a:fillRect l="0" t="0" r="0" b="-948"/>
            </a:stretch>
          </a:blipFill>
        </p:spPr>
      </p:sp>
      <p:sp>
        <p:nvSpPr>
          <p:cNvPr name="TextBox 3" id="3"/>
          <p:cNvSpPr txBox="true"/>
          <p:nvPr/>
        </p:nvSpPr>
        <p:spPr>
          <a:xfrm rot="0">
            <a:off x="1481210" y="5703199"/>
            <a:ext cx="15325580" cy="3958172"/>
          </a:xfrm>
          <a:prstGeom prst="rect">
            <a:avLst/>
          </a:prstGeom>
        </p:spPr>
        <p:txBody>
          <a:bodyPr anchor="t" rtlCol="false" tIns="0" lIns="0" bIns="0" rIns="0">
            <a:spAutoFit/>
          </a:bodyPr>
          <a:lstStyle/>
          <a:p>
            <a:pPr algn="just">
              <a:lnSpc>
                <a:spcPts val="3919"/>
              </a:lnSpc>
              <a:spcBef>
                <a:spcPct val="0"/>
              </a:spcBef>
            </a:pPr>
            <a:r>
              <a:rPr lang="en-US" sz="2799" spc="5">
                <a:solidFill>
                  <a:srgbClr val="FFFFFF"/>
                </a:solidFill>
                <a:latin typeface="Open Sauce"/>
                <a:ea typeface="Open Sauce"/>
                <a:cs typeface="Open Sauce"/>
                <a:sym typeface="Open Sauce"/>
              </a:rPr>
              <a:t>Federated le</a:t>
            </a:r>
            <a:r>
              <a:rPr lang="en-US" sz="2799" spc="5">
                <a:solidFill>
                  <a:srgbClr val="FFFFFF"/>
                </a:solidFill>
                <a:latin typeface="Open Sauce"/>
                <a:ea typeface="Open Sauce"/>
                <a:cs typeface="Open Sauce"/>
                <a:sym typeface="Open Sauce"/>
              </a:rPr>
              <a:t>arning sürecinin dört temel aşaması gösterilmektedir. İlk olarak, merkezi sunucuda bir global model başlatılır ve başlangıç ağırlıkları tanımlanır. Bu modelin ağırlıkları, bağlı istemcilere dağıtılır. Her istemci, kendi yerel verisi üzerinde bağımsız olarak eğitim yapar ve eğitim sonrası güncellenmiş ağırlıklarını merkezi sunucuya geri gönderir. Sunucu, bu ağırlıkları Federated Averaging (FedAvg) algoritmasıyla birleştirerek yeni bir global model üretir. Bu yeni model, istemcilere tekrar dağıtılarak süreç döngüsel olarak devam eder. Bu yapı sayesinde istemciler, verilerini paylaşmadan ortak bir öğrenme sürecine katkı sağlar.</a:t>
            </a:r>
          </a:p>
        </p:txBody>
      </p:sp>
      <p:sp>
        <p:nvSpPr>
          <p:cNvPr name="TextBox 4" id="4"/>
          <p:cNvSpPr txBox="true"/>
          <p:nvPr/>
        </p:nvSpPr>
        <p:spPr>
          <a:xfrm rot="0">
            <a:off x="1113162" y="478591"/>
            <a:ext cx="17174838" cy="2616808"/>
          </a:xfrm>
          <a:prstGeom prst="rect">
            <a:avLst/>
          </a:prstGeom>
        </p:spPr>
        <p:txBody>
          <a:bodyPr anchor="t" rtlCol="false" tIns="0" lIns="0" bIns="0" rIns="0">
            <a:spAutoFit/>
          </a:bodyPr>
          <a:lstStyle/>
          <a:p>
            <a:pPr algn="ctr">
              <a:lnSpc>
                <a:spcPts val="8400"/>
              </a:lnSpc>
            </a:pPr>
            <a:r>
              <a:rPr lang="en-US" sz="6000">
                <a:solidFill>
                  <a:srgbClr val="FFFFFF"/>
                </a:solidFill>
                <a:latin typeface="Sedgwick Ave"/>
                <a:ea typeface="Sedgwick Ave"/>
                <a:cs typeface="Sedgwick Ave"/>
                <a:sym typeface="Sedgwick Ave"/>
              </a:rPr>
              <a:t>Federated Learning süreç döngüsünün genel yapısı</a:t>
            </a:r>
          </a:p>
          <a:p>
            <a:pPr algn="ctr">
              <a:lnSpc>
                <a:spcPts val="128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697037" y="1028700"/>
            <a:ext cx="8893927" cy="5512310"/>
          </a:xfrm>
          <a:custGeom>
            <a:avLst/>
            <a:gdLst/>
            <a:ahLst/>
            <a:cxnLst/>
            <a:rect r="r" b="b" t="t" l="l"/>
            <a:pathLst>
              <a:path h="5512310" w="8893927">
                <a:moveTo>
                  <a:pt x="0" y="0"/>
                </a:moveTo>
                <a:lnTo>
                  <a:pt x="8893926" y="0"/>
                </a:lnTo>
                <a:lnTo>
                  <a:pt x="8893926" y="5512310"/>
                </a:lnTo>
                <a:lnTo>
                  <a:pt x="0" y="5512310"/>
                </a:lnTo>
                <a:lnTo>
                  <a:pt x="0" y="0"/>
                </a:lnTo>
                <a:close/>
              </a:path>
            </a:pathLst>
          </a:custGeom>
          <a:blipFill>
            <a:blip r:embed="rId2"/>
            <a:stretch>
              <a:fillRect l="0" t="0" r="0" b="0"/>
            </a:stretch>
          </a:blipFill>
        </p:spPr>
      </p:sp>
      <p:sp>
        <p:nvSpPr>
          <p:cNvPr name="TextBox 3" id="3"/>
          <p:cNvSpPr txBox="true"/>
          <p:nvPr/>
        </p:nvSpPr>
        <p:spPr>
          <a:xfrm rot="0">
            <a:off x="1730101" y="7036869"/>
            <a:ext cx="14827797" cy="1691155"/>
          </a:xfrm>
          <a:prstGeom prst="rect">
            <a:avLst/>
          </a:prstGeom>
        </p:spPr>
        <p:txBody>
          <a:bodyPr anchor="t" rtlCol="false" tIns="0" lIns="0" bIns="0" rIns="0">
            <a:spAutoFit/>
          </a:bodyPr>
          <a:lstStyle/>
          <a:p>
            <a:pPr algn="just">
              <a:lnSpc>
                <a:spcPts val="3319"/>
              </a:lnSpc>
              <a:spcBef>
                <a:spcPct val="0"/>
              </a:spcBef>
            </a:pPr>
            <a:r>
              <a:rPr lang="en-US" sz="2862" spc="-134">
                <a:solidFill>
                  <a:srgbClr val="FFFFFF"/>
                </a:solidFill>
                <a:latin typeface="Open Sauce"/>
                <a:ea typeface="Open Sauce"/>
                <a:cs typeface="Open Sauce"/>
                <a:sym typeface="Open Sauce"/>
              </a:rPr>
              <a:t>Bu gr</a:t>
            </a:r>
            <a:r>
              <a:rPr lang="en-US" sz="2862" spc="-134">
                <a:solidFill>
                  <a:srgbClr val="FFFFFF"/>
                </a:solidFill>
                <a:latin typeface="Open Sauce"/>
                <a:ea typeface="Open Sauce"/>
                <a:cs typeface="Open Sauce"/>
                <a:sym typeface="Open Sauce"/>
              </a:rPr>
              <a:t>afik, federated learning süreci boyunca eğitim ve doğrulama verileri üzerinde elde edilen kayıp (loss) değerlerinin epoch'lara göre değişimini göstermektedir. Eğitim kaybı istikrarlı şekilde azalırken, doğrulama kaybı da paralel bir eğilim sergileyerek modelin aşırı öğrenmeden uzak kaldığını ve genelleme yeteneğinin korunduğunu ortaya koymaktadır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4642825" y="1400887"/>
            <a:ext cx="9002349" cy="5404420"/>
          </a:xfrm>
          <a:custGeom>
            <a:avLst/>
            <a:gdLst/>
            <a:ahLst/>
            <a:cxnLst/>
            <a:rect r="r" b="b" t="t" l="l"/>
            <a:pathLst>
              <a:path h="5404420" w="9002349">
                <a:moveTo>
                  <a:pt x="0" y="0"/>
                </a:moveTo>
                <a:lnTo>
                  <a:pt x="9002350" y="0"/>
                </a:lnTo>
                <a:lnTo>
                  <a:pt x="9002350" y="5404421"/>
                </a:lnTo>
                <a:lnTo>
                  <a:pt x="0" y="5404421"/>
                </a:lnTo>
                <a:lnTo>
                  <a:pt x="0" y="0"/>
                </a:lnTo>
                <a:close/>
              </a:path>
            </a:pathLst>
          </a:custGeom>
          <a:blipFill>
            <a:blip r:embed="rId2"/>
            <a:stretch>
              <a:fillRect l="0" t="0" r="0" b="0"/>
            </a:stretch>
          </a:blipFill>
        </p:spPr>
      </p:sp>
      <p:sp>
        <p:nvSpPr>
          <p:cNvPr name="TextBox 3" id="3"/>
          <p:cNvSpPr txBox="true"/>
          <p:nvPr/>
        </p:nvSpPr>
        <p:spPr>
          <a:xfrm rot="0">
            <a:off x="1292704" y="7257922"/>
            <a:ext cx="15702593" cy="2634290"/>
          </a:xfrm>
          <a:prstGeom prst="rect">
            <a:avLst/>
          </a:prstGeom>
        </p:spPr>
        <p:txBody>
          <a:bodyPr anchor="t" rtlCol="false" tIns="0" lIns="0" bIns="0" rIns="0">
            <a:spAutoFit/>
          </a:bodyPr>
          <a:lstStyle/>
          <a:p>
            <a:pPr algn="just">
              <a:lnSpc>
                <a:spcPts val="3479"/>
              </a:lnSpc>
              <a:spcBef>
                <a:spcPct val="0"/>
              </a:spcBef>
            </a:pPr>
            <a:r>
              <a:rPr lang="en-US" sz="2999" spc="-140">
                <a:solidFill>
                  <a:srgbClr val="FFFFFF"/>
                </a:solidFill>
                <a:latin typeface="Open Sauce"/>
                <a:ea typeface="Open Sauce"/>
                <a:cs typeface="Open Sauce"/>
                <a:sym typeface="Open Sauce"/>
              </a:rPr>
              <a:t>Şekilde görüldüğü gibi, merkezi (centr</a:t>
            </a:r>
            <a:r>
              <a:rPr lang="en-US" sz="2999" spc="-140">
                <a:solidFill>
                  <a:srgbClr val="FFFFFF"/>
                </a:solidFill>
                <a:latin typeface="Open Sauce"/>
                <a:ea typeface="Open Sauce"/>
                <a:cs typeface="Open Sauce"/>
                <a:sym typeface="Open Sauce"/>
              </a:rPr>
              <a:t>alized) ve federated learning mimarileri altında eğitilen YOLOv8 modellerinin başlıca performans metriklerinin karşılaştırmasını sunmaktadır. Özellikle 5. epoch itibariyle federated modelin precision, recall ve mAP değerlerinde merkezi modele göre daha yüksek sonuçlar verdiği gözlemlenmiştir. Bu durum, federated mimarinin farklı veri kaynaklarından gelen bilgileri daha etkili şekilde genelleyebildiğini ve modeli daha hızlı optimize ettiğini göstermektedir</a:t>
            </a:r>
          </a:p>
        </p:txBody>
      </p:sp>
      <p:sp>
        <p:nvSpPr>
          <p:cNvPr name="TextBox 4" id="4"/>
          <p:cNvSpPr txBox="true"/>
          <p:nvPr/>
        </p:nvSpPr>
        <p:spPr>
          <a:xfrm rot="0">
            <a:off x="421995" y="275411"/>
            <a:ext cx="17866005" cy="944502"/>
          </a:xfrm>
          <a:prstGeom prst="rect">
            <a:avLst/>
          </a:prstGeom>
        </p:spPr>
        <p:txBody>
          <a:bodyPr anchor="t" rtlCol="false" tIns="0" lIns="0" bIns="0" rIns="0">
            <a:spAutoFit/>
          </a:bodyPr>
          <a:lstStyle/>
          <a:p>
            <a:pPr algn="ctr">
              <a:lnSpc>
                <a:spcPts val="7713"/>
              </a:lnSpc>
            </a:pPr>
            <a:r>
              <a:rPr lang="en-US" sz="5509">
                <a:solidFill>
                  <a:srgbClr val="FFFFFF"/>
                </a:solidFill>
                <a:latin typeface="Sedgwick Ave"/>
                <a:ea typeface="Sedgwick Ave"/>
                <a:cs typeface="Sedgwick Ave"/>
                <a:sym typeface="Sedgwick Ave"/>
              </a:rPr>
              <a:t>EĞİTİM PERFORMANSLARININ KARŞILAŞTIRILMASI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5400000">
            <a:off x="-3250333" y="-2154437"/>
            <a:ext cx="8558066" cy="8573655"/>
          </a:xfrm>
          <a:custGeom>
            <a:avLst/>
            <a:gdLst/>
            <a:ahLst/>
            <a:cxnLst/>
            <a:rect r="r" b="b" t="t" l="l"/>
            <a:pathLst>
              <a:path h="8573655" w="8558066">
                <a:moveTo>
                  <a:pt x="0" y="8573655"/>
                </a:moveTo>
                <a:lnTo>
                  <a:pt x="8558066" y="8573655"/>
                </a:lnTo>
                <a:lnTo>
                  <a:pt x="8558066"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040269" y="8037442"/>
            <a:ext cx="7358247" cy="7358247"/>
          </a:xfrm>
          <a:custGeom>
            <a:avLst/>
            <a:gdLst/>
            <a:ahLst/>
            <a:cxnLst/>
            <a:rect r="r" b="b" t="t" l="l"/>
            <a:pathLst>
              <a:path h="7358247" w="7358247">
                <a:moveTo>
                  <a:pt x="0" y="7358247"/>
                </a:moveTo>
                <a:lnTo>
                  <a:pt x="7358247" y="7358247"/>
                </a:lnTo>
                <a:lnTo>
                  <a:pt x="7358247" y="0"/>
                </a:lnTo>
                <a:lnTo>
                  <a:pt x="0" y="0"/>
                </a:lnTo>
                <a:lnTo>
                  <a:pt x="0" y="735824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930991" y="382096"/>
            <a:ext cx="9593781" cy="4529116"/>
          </a:xfrm>
          <a:custGeom>
            <a:avLst/>
            <a:gdLst/>
            <a:ahLst/>
            <a:cxnLst/>
            <a:rect r="r" b="b" t="t" l="l"/>
            <a:pathLst>
              <a:path h="4529116" w="9593781">
                <a:moveTo>
                  <a:pt x="0" y="0"/>
                </a:moveTo>
                <a:lnTo>
                  <a:pt x="9593782" y="0"/>
                </a:lnTo>
                <a:lnTo>
                  <a:pt x="9593782" y="4529116"/>
                </a:lnTo>
                <a:lnTo>
                  <a:pt x="0" y="4529116"/>
                </a:lnTo>
                <a:lnTo>
                  <a:pt x="0" y="0"/>
                </a:lnTo>
                <a:close/>
              </a:path>
            </a:pathLst>
          </a:custGeom>
          <a:blipFill>
            <a:blip r:embed="rId6"/>
            <a:stretch>
              <a:fillRect l="0" t="-3818" r="0" b="-5937"/>
            </a:stretch>
          </a:blipFill>
        </p:spPr>
      </p:sp>
      <p:sp>
        <p:nvSpPr>
          <p:cNvPr name="TextBox 5" id="5"/>
          <p:cNvSpPr txBox="true"/>
          <p:nvPr/>
        </p:nvSpPr>
        <p:spPr>
          <a:xfrm rot="0">
            <a:off x="2727596" y="5646118"/>
            <a:ext cx="10406791" cy="4108249"/>
          </a:xfrm>
          <a:prstGeom prst="rect">
            <a:avLst/>
          </a:prstGeom>
        </p:spPr>
        <p:txBody>
          <a:bodyPr anchor="t" rtlCol="false" tIns="0" lIns="0" bIns="0" rIns="0">
            <a:spAutoFit/>
          </a:bodyPr>
          <a:lstStyle/>
          <a:p>
            <a:pPr algn="just">
              <a:lnSpc>
                <a:spcPts val="4059"/>
              </a:lnSpc>
              <a:spcBef>
                <a:spcPct val="0"/>
              </a:spcBef>
            </a:pPr>
            <a:r>
              <a:rPr lang="en-US" b="true" sz="2899" spc="5">
                <a:solidFill>
                  <a:srgbClr val="FFFFFF"/>
                </a:solidFill>
                <a:latin typeface="Open Sauce Bold"/>
                <a:ea typeface="Open Sauce Bold"/>
                <a:cs typeface="Open Sauce Bold"/>
                <a:sym typeface="Open Sauce Bold"/>
              </a:rPr>
              <a:t> Federated le</a:t>
            </a:r>
            <a:r>
              <a:rPr lang="en-US" b="true" sz="2899" spc="5">
                <a:solidFill>
                  <a:srgbClr val="FFFFFF"/>
                </a:solidFill>
                <a:latin typeface="Open Sauce Bold"/>
                <a:ea typeface="Open Sauce Bold"/>
                <a:cs typeface="Open Sauce Bold"/>
                <a:sym typeface="Open Sauce Bold"/>
              </a:rPr>
              <a:t>arning ile eğitilen model,</a:t>
            </a:r>
          </a:p>
          <a:p>
            <a:pPr algn="just">
              <a:lnSpc>
                <a:spcPts val="4059"/>
              </a:lnSpc>
              <a:spcBef>
                <a:spcPct val="0"/>
              </a:spcBef>
            </a:pPr>
            <a:r>
              <a:rPr lang="en-US" b="true" sz="2899" spc="5">
                <a:solidFill>
                  <a:srgbClr val="FFFFFF"/>
                </a:solidFill>
                <a:latin typeface="Open Sauce Bold"/>
                <a:ea typeface="Open Sauce Bold"/>
                <a:cs typeface="Open Sauce Bold"/>
                <a:sym typeface="Open Sauce Bold"/>
              </a:rPr>
              <a:t> düşük ışık, sis ve bulanıklık gibi zorlayıcı çevre koşullarında test edilmiştir.</a:t>
            </a:r>
          </a:p>
          <a:p>
            <a:pPr algn="just">
              <a:lnSpc>
                <a:spcPts val="4059"/>
              </a:lnSpc>
              <a:spcBef>
                <a:spcPct val="0"/>
              </a:spcBef>
            </a:pPr>
            <a:r>
              <a:rPr lang="en-US" b="true" sz="2899" spc="5">
                <a:solidFill>
                  <a:srgbClr val="FFFFFF"/>
                </a:solidFill>
                <a:latin typeface="Open Sauce Bold"/>
                <a:ea typeface="Open Sauce Bold"/>
                <a:cs typeface="Open Sauce Bold"/>
                <a:sym typeface="Open Sauce Bold"/>
              </a:rPr>
              <a:t>• STOP, RESTAURANT ve YAYA GEÇİDİ gibi tabelalar,</a:t>
            </a:r>
          </a:p>
          <a:p>
            <a:pPr algn="just">
              <a:lnSpc>
                <a:spcPts val="4059"/>
              </a:lnSpc>
              <a:spcBef>
                <a:spcPct val="0"/>
              </a:spcBef>
            </a:pPr>
            <a:r>
              <a:rPr lang="en-US" b="true" sz="2899" spc="5">
                <a:solidFill>
                  <a:srgbClr val="FFFFFF"/>
                </a:solidFill>
                <a:latin typeface="Open Sauce Bold"/>
                <a:ea typeface="Open Sauce Bold"/>
                <a:cs typeface="Open Sauce Bold"/>
                <a:sym typeface="Open Sauce Bold"/>
              </a:rPr>
              <a:t> yüksek doğrulukla başarıyla algılanmıştır.</a:t>
            </a:r>
          </a:p>
          <a:p>
            <a:pPr algn="just">
              <a:lnSpc>
                <a:spcPts val="4059"/>
              </a:lnSpc>
              <a:spcBef>
                <a:spcPct val="0"/>
              </a:spcBef>
            </a:pPr>
            <a:r>
              <a:rPr lang="en-US" b="true" sz="2899" spc="5">
                <a:solidFill>
                  <a:srgbClr val="FFFFFF"/>
                </a:solidFill>
                <a:latin typeface="Open Sauce Bold"/>
                <a:ea typeface="Open Sauce Bold"/>
                <a:cs typeface="Open Sauce Bold"/>
                <a:sym typeface="Open Sauce Bold"/>
              </a:rPr>
              <a:t>• Bu sonuç, modelin çevresel değişkenliklere karşı</a:t>
            </a:r>
          </a:p>
          <a:p>
            <a:pPr algn="just">
              <a:lnSpc>
                <a:spcPts val="4059"/>
              </a:lnSpc>
              <a:spcBef>
                <a:spcPct val="0"/>
              </a:spcBef>
            </a:pPr>
            <a:r>
              <a:rPr lang="en-US" b="true" sz="2899" spc="5">
                <a:solidFill>
                  <a:srgbClr val="FFFFFF"/>
                </a:solidFill>
                <a:latin typeface="Open Sauce Bold"/>
                <a:ea typeface="Open Sauce Bold"/>
                <a:cs typeface="Open Sauce Bold"/>
                <a:sym typeface="Open Sauce Bold"/>
              </a:rPr>
              <a:t>dayanıklılığını ve genel performansını göstermektedir.</a:t>
            </a:r>
          </a:p>
          <a:p>
            <a:pPr algn="just">
              <a:lnSpc>
                <a:spcPts val="405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2846868"/>
            <a:ext cx="7402919" cy="4724857"/>
          </a:xfrm>
          <a:custGeom>
            <a:avLst/>
            <a:gdLst/>
            <a:ahLst/>
            <a:cxnLst/>
            <a:rect r="r" b="b" t="t" l="l"/>
            <a:pathLst>
              <a:path h="4724857" w="7402919">
                <a:moveTo>
                  <a:pt x="0" y="0"/>
                </a:moveTo>
                <a:lnTo>
                  <a:pt x="7402919" y="0"/>
                </a:lnTo>
                <a:lnTo>
                  <a:pt x="7402919" y="4724857"/>
                </a:lnTo>
                <a:lnTo>
                  <a:pt x="0" y="4724857"/>
                </a:lnTo>
                <a:lnTo>
                  <a:pt x="0" y="0"/>
                </a:lnTo>
                <a:close/>
              </a:path>
            </a:pathLst>
          </a:custGeom>
          <a:blipFill>
            <a:blip r:embed="rId2"/>
            <a:stretch>
              <a:fillRect l="-2588" t="-55778" r="0" b="-4957"/>
            </a:stretch>
          </a:blipFill>
        </p:spPr>
      </p:sp>
      <p:sp>
        <p:nvSpPr>
          <p:cNvPr name="TextBox 3" id="3"/>
          <p:cNvSpPr txBox="true"/>
          <p:nvPr/>
        </p:nvSpPr>
        <p:spPr>
          <a:xfrm rot="0">
            <a:off x="8878527" y="1832564"/>
            <a:ext cx="8702534" cy="6574247"/>
          </a:xfrm>
          <a:prstGeom prst="rect">
            <a:avLst/>
          </a:prstGeom>
        </p:spPr>
        <p:txBody>
          <a:bodyPr anchor="t" rtlCol="false" tIns="0" lIns="0" bIns="0" rIns="0">
            <a:spAutoFit/>
          </a:bodyPr>
          <a:lstStyle/>
          <a:p>
            <a:pPr algn="just">
              <a:lnSpc>
                <a:spcPts val="4066"/>
              </a:lnSpc>
            </a:pPr>
            <a:r>
              <a:rPr lang="en-US" sz="2904">
                <a:solidFill>
                  <a:srgbClr val="FFFFFF"/>
                </a:solidFill>
                <a:latin typeface="Hussar Bold"/>
                <a:ea typeface="Hussar Bold"/>
                <a:cs typeface="Hussar Bold"/>
                <a:sym typeface="Hussar Bold"/>
              </a:rPr>
              <a:t>🛑 Federated Öğrenme ile Eğitilmiş YOLOv8 Modeli – Tespit Örneği</a:t>
            </a:r>
          </a:p>
          <a:p>
            <a:pPr algn="just" marL="627153" indent="-313576" lvl="1">
              <a:lnSpc>
                <a:spcPts val="4066"/>
              </a:lnSpc>
              <a:buAutoNum type="arabicPeriod" startAt="1"/>
            </a:pPr>
            <a:r>
              <a:rPr lang="en-US" sz="2904">
                <a:solidFill>
                  <a:srgbClr val="FFFFFF"/>
                </a:solidFill>
                <a:latin typeface="Arimo"/>
                <a:ea typeface="Arimo"/>
                <a:cs typeface="Arimo"/>
                <a:sym typeface="Arimo"/>
              </a:rPr>
              <a:t>Federated learning yöntemiyle eğitilen YOLOv8 modeli,</a:t>
            </a:r>
            <a:r>
              <a:rPr lang="en-US" sz="2904">
                <a:solidFill>
                  <a:srgbClr val="FFFFFF"/>
                </a:solidFill>
                <a:latin typeface="Arimo"/>
                <a:ea typeface="Arimo"/>
                <a:cs typeface="Arimo"/>
                <a:sym typeface="Arimo"/>
              </a:rPr>
              <a:t> STOP tabelasını %92 doğrulukla tespit etmiştir.</a:t>
            </a:r>
          </a:p>
          <a:p>
            <a:pPr algn="just" marL="627153" indent="-313576" lvl="1">
              <a:lnSpc>
                <a:spcPts val="4066"/>
              </a:lnSpc>
              <a:buAutoNum type="arabicPeriod" startAt="1"/>
            </a:pPr>
            <a:r>
              <a:rPr lang="en-US" sz="2904">
                <a:solidFill>
                  <a:srgbClr val="FFFFFF"/>
                </a:solidFill>
                <a:latin typeface="Arimo"/>
                <a:ea typeface="Arimo"/>
                <a:cs typeface="Arimo"/>
                <a:sym typeface="Arimo"/>
              </a:rPr>
              <a:t>Model, istemcilerde yerel verilerle eğitilmiş; yalnızca ağırlıklar sunucuya gönderilerek merkezi model FedAvg ile oluşturulmuştur.</a:t>
            </a:r>
          </a:p>
          <a:p>
            <a:pPr algn="just" marL="627153" indent="-313576" lvl="1">
              <a:lnSpc>
                <a:spcPts val="4066"/>
              </a:lnSpc>
              <a:buAutoNum type="arabicPeriod" startAt="1"/>
            </a:pPr>
            <a:r>
              <a:rPr lang="en-US" sz="2904">
                <a:solidFill>
                  <a:srgbClr val="FFFFFF"/>
                </a:solidFill>
                <a:latin typeface="Arimo"/>
                <a:ea typeface="Arimo"/>
                <a:cs typeface="Arimo"/>
                <a:sym typeface="Arimo"/>
              </a:rPr>
              <a:t>Bu</a:t>
            </a:r>
            <a:r>
              <a:rPr lang="en-US" sz="2904">
                <a:solidFill>
                  <a:srgbClr val="FFFFFF"/>
                </a:solidFill>
                <a:latin typeface="Arimo"/>
                <a:ea typeface="Arimo"/>
                <a:cs typeface="Arimo"/>
                <a:sym typeface="Arimo"/>
              </a:rPr>
              <a:t> örnekte, tespit Client-3 tarafından yapılmış ve sonrasında model güncellemesi sunucuya aktarılmıştır; süreç veri gizliliğini koruyarak yüksek performans sağlamaktadır.</a:t>
            </a:r>
          </a:p>
          <a:p>
            <a:pPr algn="just">
              <a:lnSpc>
                <a:spcPts val="3753"/>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400000">
            <a:off x="10760667" y="2910355"/>
            <a:ext cx="10458860" cy="10477911"/>
          </a:xfrm>
          <a:custGeom>
            <a:avLst/>
            <a:gdLst/>
            <a:ahLst/>
            <a:cxnLst/>
            <a:rect r="r" b="b" t="t" l="l"/>
            <a:pathLst>
              <a:path h="10477911" w="10458860">
                <a:moveTo>
                  <a:pt x="10458860" y="0"/>
                </a:moveTo>
                <a:lnTo>
                  <a:pt x="0" y="0"/>
                </a:lnTo>
                <a:lnTo>
                  <a:pt x="0" y="10477910"/>
                </a:lnTo>
                <a:lnTo>
                  <a:pt x="10458860" y="10477910"/>
                </a:lnTo>
                <a:lnTo>
                  <a:pt x="1045886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956158" y="-2546675"/>
            <a:ext cx="5969716" cy="5969716"/>
          </a:xfrm>
          <a:custGeom>
            <a:avLst/>
            <a:gdLst/>
            <a:ahLst/>
            <a:cxnLst/>
            <a:rect r="r" b="b" t="t" l="l"/>
            <a:pathLst>
              <a:path h="5969716" w="5969716">
                <a:moveTo>
                  <a:pt x="5969716" y="5969716"/>
                </a:moveTo>
                <a:lnTo>
                  <a:pt x="0" y="5969716"/>
                </a:lnTo>
                <a:lnTo>
                  <a:pt x="0" y="0"/>
                </a:lnTo>
                <a:lnTo>
                  <a:pt x="5969716" y="0"/>
                </a:lnTo>
                <a:lnTo>
                  <a:pt x="5969716" y="596971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632034" y="457233"/>
            <a:ext cx="9026222" cy="986268"/>
          </a:xfrm>
          <a:prstGeom prst="rect">
            <a:avLst/>
          </a:prstGeom>
        </p:spPr>
        <p:txBody>
          <a:bodyPr anchor="t" rtlCol="false" tIns="0" lIns="0" bIns="0" rIns="0">
            <a:spAutoFit/>
          </a:bodyPr>
          <a:lstStyle/>
          <a:p>
            <a:pPr algn="just" marL="0" indent="0" lvl="0">
              <a:lnSpc>
                <a:spcPts val="7704"/>
              </a:lnSpc>
            </a:pPr>
            <a:r>
              <a:rPr lang="en-US" sz="6641" spc="-312">
                <a:solidFill>
                  <a:srgbClr val="FFFFFF"/>
                </a:solidFill>
                <a:latin typeface="Sedgwick Ave"/>
                <a:ea typeface="Sedgwick Ave"/>
                <a:cs typeface="Sedgwick Ave"/>
                <a:sym typeface="Sedgwick Ave"/>
              </a:rPr>
              <a:t>PROJENİN SENARYOSU</a:t>
            </a:r>
          </a:p>
        </p:txBody>
      </p:sp>
      <p:sp>
        <p:nvSpPr>
          <p:cNvPr name="Freeform 5" id="5"/>
          <p:cNvSpPr/>
          <p:nvPr/>
        </p:nvSpPr>
        <p:spPr>
          <a:xfrm flipH="false" flipV="false" rot="0">
            <a:off x="2392391" y="3423041"/>
            <a:ext cx="6751609" cy="6301333"/>
          </a:xfrm>
          <a:custGeom>
            <a:avLst/>
            <a:gdLst/>
            <a:ahLst/>
            <a:cxnLst/>
            <a:rect r="r" b="b" t="t" l="l"/>
            <a:pathLst>
              <a:path h="6301333" w="6751609">
                <a:moveTo>
                  <a:pt x="0" y="0"/>
                </a:moveTo>
                <a:lnTo>
                  <a:pt x="6751609" y="0"/>
                </a:lnTo>
                <a:lnTo>
                  <a:pt x="6751609" y="6301333"/>
                </a:lnTo>
                <a:lnTo>
                  <a:pt x="0" y="6301333"/>
                </a:lnTo>
                <a:lnTo>
                  <a:pt x="0" y="0"/>
                </a:lnTo>
                <a:close/>
              </a:path>
            </a:pathLst>
          </a:custGeom>
          <a:blipFill>
            <a:blip r:embed="rId6"/>
            <a:stretch>
              <a:fillRect l="-202" t="-8726" r="-1272" b="0"/>
            </a:stretch>
          </a:blipFill>
        </p:spPr>
      </p:sp>
      <p:sp>
        <p:nvSpPr>
          <p:cNvPr name="TextBox 6" id="6"/>
          <p:cNvSpPr txBox="true"/>
          <p:nvPr/>
        </p:nvSpPr>
        <p:spPr>
          <a:xfrm rot="0">
            <a:off x="9938527" y="2001543"/>
            <a:ext cx="7553062" cy="6226765"/>
          </a:xfrm>
          <a:prstGeom prst="rect">
            <a:avLst/>
          </a:prstGeom>
        </p:spPr>
        <p:txBody>
          <a:bodyPr anchor="t" rtlCol="false" tIns="0" lIns="0" bIns="0" rIns="0">
            <a:spAutoFit/>
          </a:bodyPr>
          <a:lstStyle/>
          <a:p>
            <a:pPr algn="just">
              <a:lnSpc>
                <a:spcPts val="3821"/>
              </a:lnSpc>
            </a:pPr>
          </a:p>
          <a:p>
            <a:pPr algn="just" marL="589267" indent="-294633" lvl="1">
              <a:lnSpc>
                <a:spcPts val="3821"/>
              </a:lnSpc>
              <a:spcBef>
                <a:spcPct val="0"/>
              </a:spcBef>
              <a:buAutoNum type="arabicPeriod" startAt="1"/>
            </a:pPr>
            <a:r>
              <a:rPr lang="en-US" sz="2729">
                <a:solidFill>
                  <a:srgbClr val="FFFFFF"/>
                </a:solidFill>
                <a:latin typeface="Arimo"/>
                <a:ea typeface="Arimo"/>
                <a:cs typeface="Arimo"/>
                <a:sym typeface="Arimo"/>
              </a:rPr>
              <a:t>YOLOv8 modeli, akıllı gözlükten alınan görüntülerle durak ve yön tabelalarını mobil cihaz üzerinde yerel ol</a:t>
            </a:r>
            <a:r>
              <a:rPr lang="en-US" sz="2729">
                <a:solidFill>
                  <a:srgbClr val="FFFFFF"/>
                </a:solidFill>
                <a:latin typeface="Arimo"/>
                <a:ea typeface="Arimo"/>
                <a:cs typeface="Arimo"/>
                <a:sym typeface="Arimo"/>
              </a:rPr>
              <a:t>arak tespit eder.</a:t>
            </a:r>
          </a:p>
          <a:p>
            <a:pPr algn="just" marL="589267" indent="-294633" lvl="1">
              <a:lnSpc>
                <a:spcPts val="3821"/>
              </a:lnSpc>
              <a:spcBef>
                <a:spcPct val="0"/>
              </a:spcBef>
              <a:buAutoNum type="arabicPeriod" startAt="1"/>
            </a:pPr>
            <a:r>
              <a:rPr lang="en-US" sz="2729">
                <a:solidFill>
                  <a:srgbClr val="FFFFFF"/>
                </a:solidFill>
                <a:latin typeface="Arimo"/>
                <a:ea typeface="Arimo"/>
                <a:cs typeface="Arimo"/>
                <a:sym typeface="Arimo"/>
              </a:rPr>
              <a:t>OCR katmanı, metinleri çözümler; uygun içerikler sesli olarak kullanıcıya iletilir, yabancı dil veya uygunsuz tabelalar tespit edilirse otomatik raporlama yapılır.</a:t>
            </a:r>
          </a:p>
          <a:p>
            <a:pPr algn="just" marL="589267" indent="-294633" lvl="1">
              <a:lnSpc>
                <a:spcPts val="3821"/>
              </a:lnSpc>
              <a:spcBef>
                <a:spcPct val="0"/>
              </a:spcBef>
              <a:buAutoNum type="arabicPeriod" startAt="1"/>
            </a:pPr>
            <a:r>
              <a:rPr lang="en-US" sz="2729">
                <a:solidFill>
                  <a:srgbClr val="FFFFFF"/>
                </a:solidFill>
                <a:latin typeface="Arimo"/>
                <a:ea typeface="Arimo"/>
                <a:cs typeface="Arimo"/>
                <a:sym typeface="Arimo"/>
              </a:rPr>
              <a:t>Federated Learning mimarisi, veriyi cihazda tutarak yalnızca model ağırlıklarını paylaşır; FedAvg algoritması ile küresel model güncellenir.</a:t>
            </a:r>
          </a:p>
          <a:p>
            <a:pPr algn="just">
              <a:lnSpc>
                <a:spcPts val="3821"/>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true" rot="-5400000">
            <a:off x="-3770462" y="-3422361"/>
            <a:ext cx="8558066" cy="8573655"/>
          </a:xfrm>
          <a:custGeom>
            <a:avLst/>
            <a:gdLst/>
            <a:ahLst/>
            <a:cxnLst/>
            <a:rect r="r" b="b" t="t" l="l"/>
            <a:pathLst>
              <a:path h="8573655" w="8558066">
                <a:moveTo>
                  <a:pt x="0" y="8573655"/>
                </a:moveTo>
                <a:lnTo>
                  <a:pt x="8558066" y="8573655"/>
                </a:lnTo>
                <a:lnTo>
                  <a:pt x="8558066" y="0"/>
                </a:lnTo>
                <a:lnTo>
                  <a:pt x="0" y="0"/>
                </a:lnTo>
                <a:lnTo>
                  <a:pt x="0" y="85736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241525" y="7769258"/>
            <a:ext cx="7420312" cy="7420312"/>
          </a:xfrm>
          <a:custGeom>
            <a:avLst/>
            <a:gdLst/>
            <a:ahLst/>
            <a:cxnLst/>
            <a:rect r="r" b="b" t="t" l="l"/>
            <a:pathLst>
              <a:path h="7420312" w="7420312">
                <a:moveTo>
                  <a:pt x="0" y="7420311"/>
                </a:moveTo>
                <a:lnTo>
                  <a:pt x="7420312" y="7420311"/>
                </a:lnTo>
                <a:lnTo>
                  <a:pt x="7420312" y="0"/>
                </a:lnTo>
                <a:lnTo>
                  <a:pt x="0" y="0"/>
                </a:lnTo>
                <a:lnTo>
                  <a:pt x="0" y="742031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674945" y="1605896"/>
            <a:ext cx="8280546" cy="4977365"/>
          </a:xfrm>
          <a:custGeom>
            <a:avLst/>
            <a:gdLst/>
            <a:ahLst/>
            <a:cxnLst/>
            <a:rect r="r" b="b" t="t" l="l"/>
            <a:pathLst>
              <a:path h="4977365" w="8280546">
                <a:moveTo>
                  <a:pt x="0" y="0"/>
                </a:moveTo>
                <a:lnTo>
                  <a:pt x="8280546" y="0"/>
                </a:lnTo>
                <a:lnTo>
                  <a:pt x="8280546" y="4977365"/>
                </a:lnTo>
                <a:lnTo>
                  <a:pt x="0" y="4977365"/>
                </a:lnTo>
                <a:lnTo>
                  <a:pt x="0" y="0"/>
                </a:lnTo>
                <a:close/>
              </a:path>
            </a:pathLst>
          </a:custGeom>
          <a:blipFill>
            <a:blip r:embed="rId6"/>
            <a:stretch>
              <a:fillRect l="-7477" t="-9144" r="-12021" b="-12439"/>
            </a:stretch>
          </a:blipFill>
        </p:spPr>
      </p:sp>
      <p:sp>
        <p:nvSpPr>
          <p:cNvPr name="TextBox 5" id="5"/>
          <p:cNvSpPr txBox="true"/>
          <p:nvPr/>
        </p:nvSpPr>
        <p:spPr>
          <a:xfrm rot="0">
            <a:off x="1311947" y="3403944"/>
            <a:ext cx="7533397" cy="6301483"/>
          </a:xfrm>
          <a:prstGeom prst="rect">
            <a:avLst/>
          </a:prstGeom>
        </p:spPr>
        <p:txBody>
          <a:bodyPr anchor="t" rtlCol="false" tIns="0" lIns="0" bIns="0" rIns="0">
            <a:spAutoFit/>
          </a:bodyPr>
          <a:lstStyle/>
          <a:p>
            <a:pPr algn="just">
              <a:lnSpc>
                <a:spcPts val="3860"/>
              </a:lnSpc>
              <a:spcBef>
                <a:spcPct val="0"/>
              </a:spcBef>
            </a:pPr>
            <a:r>
              <a:rPr lang="en-US" sz="2757">
                <a:solidFill>
                  <a:srgbClr val="FF914D"/>
                </a:solidFill>
                <a:latin typeface="Hussar Bold"/>
                <a:ea typeface="Hussar Bold"/>
                <a:cs typeface="Hussar Bold"/>
                <a:sym typeface="Hussar Bold"/>
              </a:rPr>
              <a:t>🚌 Sesli Dur</a:t>
            </a:r>
            <a:r>
              <a:rPr lang="en-US" sz="2757">
                <a:solidFill>
                  <a:srgbClr val="FF914D"/>
                </a:solidFill>
                <a:latin typeface="Hussar Bold"/>
                <a:ea typeface="Hussar Bold"/>
                <a:cs typeface="Hussar Bold"/>
                <a:sym typeface="Hussar Bold"/>
              </a:rPr>
              <a:t>ak Yönlendirme Sistemi (Federated Yaklaşım)</a:t>
            </a:r>
          </a:p>
          <a:p>
            <a:pPr algn="just" marL="595319" indent="-297659" lvl="1">
              <a:lnSpc>
                <a:spcPts val="3860"/>
              </a:lnSpc>
              <a:spcBef>
                <a:spcPct val="0"/>
              </a:spcBef>
              <a:buAutoNum type="arabicPeriod" startAt="1"/>
            </a:pPr>
            <a:r>
              <a:rPr lang="en-US" sz="2757">
                <a:solidFill>
                  <a:srgbClr val="FFFFFF"/>
                </a:solidFill>
                <a:latin typeface="Arimo"/>
                <a:ea typeface="Arimo"/>
                <a:cs typeface="Arimo"/>
                <a:sym typeface="Arimo"/>
              </a:rPr>
              <a:t>Akıllı gözlükle alınan görüntüler, mobil cihazda işlenerek durak tabelaları tespit edilir ve OCR ile içerikleri çözümlenir.</a:t>
            </a:r>
          </a:p>
          <a:p>
            <a:pPr algn="just" marL="595319" indent="-297659" lvl="1">
              <a:lnSpc>
                <a:spcPts val="3860"/>
              </a:lnSpc>
              <a:spcBef>
                <a:spcPct val="0"/>
              </a:spcBef>
              <a:buAutoNum type="arabicPeriod" startAt="1"/>
            </a:pPr>
            <a:r>
              <a:rPr lang="en-US" sz="2757">
                <a:solidFill>
                  <a:srgbClr val="FFFFFF"/>
                </a:solidFill>
                <a:latin typeface="Arimo"/>
                <a:ea typeface="Arimo"/>
                <a:cs typeface="Arimo"/>
                <a:sym typeface="Arimo"/>
              </a:rPr>
              <a:t>Tespit edilen durak bilgisi, kullanıcıya gerçek zamanlı olarak sesli komutla iletilir: “Sıradaki durak: Sanayi Sitesi”.</a:t>
            </a:r>
          </a:p>
          <a:p>
            <a:pPr algn="just" marL="595319" indent="-297659" lvl="1">
              <a:lnSpc>
                <a:spcPts val="3860"/>
              </a:lnSpc>
              <a:spcBef>
                <a:spcPct val="0"/>
              </a:spcBef>
              <a:buAutoNum type="arabicPeriod" startAt="1"/>
            </a:pPr>
            <a:r>
              <a:rPr lang="en-US" sz="2757">
                <a:solidFill>
                  <a:srgbClr val="FFFFFF"/>
                </a:solidFill>
                <a:latin typeface="Arimo"/>
                <a:ea typeface="Arimo"/>
                <a:cs typeface="Arimo"/>
                <a:sym typeface="Arimo"/>
              </a:rPr>
              <a:t>Federated learning mimarisi sayesinde veriler cihazda kalır, yalnızca model ağırlıkları paylaşılır; gizlilik korunurken model sürekli güncellenir.</a:t>
            </a:r>
          </a:p>
          <a:p>
            <a:pPr algn="just">
              <a:lnSpc>
                <a:spcPts val="386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400000">
            <a:off x="12401240" y="5136552"/>
            <a:ext cx="7629348" cy="7643245"/>
          </a:xfrm>
          <a:custGeom>
            <a:avLst/>
            <a:gdLst/>
            <a:ahLst/>
            <a:cxnLst/>
            <a:rect r="r" b="b" t="t" l="l"/>
            <a:pathLst>
              <a:path h="7643245" w="7629348">
                <a:moveTo>
                  <a:pt x="7629349" y="0"/>
                </a:moveTo>
                <a:lnTo>
                  <a:pt x="0" y="0"/>
                </a:lnTo>
                <a:lnTo>
                  <a:pt x="0" y="7643245"/>
                </a:lnTo>
                <a:lnTo>
                  <a:pt x="7629349" y="7643245"/>
                </a:lnTo>
                <a:lnTo>
                  <a:pt x="762934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63227" y="1028700"/>
            <a:ext cx="8047638" cy="8613237"/>
          </a:xfrm>
          <a:custGeom>
            <a:avLst/>
            <a:gdLst/>
            <a:ahLst/>
            <a:cxnLst/>
            <a:rect r="r" b="b" t="t" l="l"/>
            <a:pathLst>
              <a:path h="8613237" w="8047638">
                <a:moveTo>
                  <a:pt x="0" y="0"/>
                </a:moveTo>
                <a:lnTo>
                  <a:pt x="8047639" y="0"/>
                </a:lnTo>
                <a:lnTo>
                  <a:pt x="8047639" y="8613237"/>
                </a:lnTo>
                <a:lnTo>
                  <a:pt x="0" y="8613237"/>
                </a:lnTo>
                <a:lnTo>
                  <a:pt x="0" y="0"/>
                </a:lnTo>
                <a:close/>
              </a:path>
            </a:pathLst>
          </a:custGeom>
          <a:blipFill>
            <a:blip r:embed="rId4"/>
            <a:stretch>
              <a:fillRect l="-1805" t="0" r="-5222" b="0"/>
            </a:stretch>
          </a:blipFill>
        </p:spPr>
      </p:sp>
      <p:sp>
        <p:nvSpPr>
          <p:cNvPr name="TextBox 4" id="4"/>
          <p:cNvSpPr txBox="true"/>
          <p:nvPr/>
        </p:nvSpPr>
        <p:spPr>
          <a:xfrm rot="0">
            <a:off x="9441188" y="3323316"/>
            <a:ext cx="10596350" cy="720698"/>
          </a:xfrm>
          <a:prstGeom prst="rect">
            <a:avLst/>
          </a:prstGeom>
        </p:spPr>
        <p:txBody>
          <a:bodyPr anchor="t" rtlCol="false" tIns="0" lIns="0" bIns="0" rIns="0">
            <a:spAutoFit/>
          </a:bodyPr>
          <a:lstStyle/>
          <a:p>
            <a:pPr algn="just" marL="0" indent="0" lvl="0">
              <a:lnSpc>
                <a:spcPts val="5500"/>
              </a:lnSpc>
            </a:pPr>
            <a:r>
              <a:rPr lang="en-US" sz="5000" spc="10">
                <a:solidFill>
                  <a:srgbClr val="FFFFFF"/>
                </a:solidFill>
                <a:latin typeface="Sedgwick Ave"/>
                <a:ea typeface="Sedgwick Ave"/>
                <a:cs typeface="Sedgwick Ave"/>
                <a:sym typeface="Sedgwick Ave"/>
              </a:rPr>
              <a:t>SERVİS AĞI SİMULASYONU</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400000">
            <a:off x="10564674" y="2595828"/>
            <a:ext cx="10458860" cy="10477911"/>
          </a:xfrm>
          <a:custGeom>
            <a:avLst/>
            <a:gdLst/>
            <a:ahLst/>
            <a:cxnLst/>
            <a:rect r="r" b="b" t="t" l="l"/>
            <a:pathLst>
              <a:path h="10477911" w="10458860">
                <a:moveTo>
                  <a:pt x="10458860" y="0"/>
                </a:moveTo>
                <a:lnTo>
                  <a:pt x="0" y="0"/>
                </a:lnTo>
                <a:lnTo>
                  <a:pt x="0" y="10477911"/>
                </a:lnTo>
                <a:lnTo>
                  <a:pt x="10458860" y="10477911"/>
                </a:lnTo>
                <a:lnTo>
                  <a:pt x="1045886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18968" y="2421632"/>
            <a:ext cx="10500682" cy="6836668"/>
          </a:xfrm>
          <a:custGeom>
            <a:avLst/>
            <a:gdLst/>
            <a:ahLst/>
            <a:cxnLst/>
            <a:rect r="r" b="b" t="t" l="l"/>
            <a:pathLst>
              <a:path h="6836668" w="10500682">
                <a:moveTo>
                  <a:pt x="0" y="0"/>
                </a:moveTo>
                <a:lnTo>
                  <a:pt x="10500682" y="0"/>
                </a:lnTo>
                <a:lnTo>
                  <a:pt x="10500682" y="6836668"/>
                </a:lnTo>
                <a:lnTo>
                  <a:pt x="0" y="6836668"/>
                </a:lnTo>
                <a:lnTo>
                  <a:pt x="0" y="0"/>
                </a:lnTo>
                <a:close/>
              </a:path>
            </a:pathLst>
          </a:custGeom>
          <a:blipFill>
            <a:blip r:embed="rId4"/>
            <a:stretch>
              <a:fillRect l="0" t="0" r="0" b="-2331"/>
            </a:stretch>
          </a:blipFill>
        </p:spPr>
      </p:sp>
      <p:sp>
        <p:nvSpPr>
          <p:cNvPr name="TextBox 4" id="4"/>
          <p:cNvSpPr txBox="true"/>
          <p:nvPr/>
        </p:nvSpPr>
        <p:spPr>
          <a:xfrm rot="0">
            <a:off x="4975650" y="545091"/>
            <a:ext cx="9144000" cy="986268"/>
          </a:xfrm>
          <a:prstGeom prst="rect">
            <a:avLst/>
          </a:prstGeom>
        </p:spPr>
        <p:txBody>
          <a:bodyPr anchor="t" rtlCol="false" tIns="0" lIns="0" bIns="0" rIns="0">
            <a:spAutoFit/>
          </a:bodyPr>
          <a:lstStyle/>
          <a:p>
            <a:pPr algn="ctr" marL="0" indent="0" lvl="0">
              <a:lnSpc>
                <a:spcPts val="7704"/>
              </a:lnSpc>
            </a:pPr>
            <a:r>
              <a:rPr lang="en-US" sz="6641" spc="-312">
                <a:solidFill>
                  <a:srgbClr val="FFFFFF"/>
                </a:solidFill>
                <a:latin typeface="Sedgwick Ave"/>
                <a:ea typeface="Sedgwick Ave"/>
                <a:cs typeface="Sedgwick Ave"/>
                <a:sym typeface="Sedgwick Ave"/>
              </a:rPr>
              <a:t>UYGULANABİLİRLİK</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12980267" y="-2032697"/>
            <a:ext cx="8558066" cy="8573655"/>
          </a:xfrm>
          <a:custGeom>
            <a:avLst/>
            <a:gdLst/>
            <a:ahLst/>
            <a:cxnLst/>
            <a:rect r="r" b="b" t="t" l="l"/>
            <a:pathLst>
              <a:path h="8573655" w="8558066">
                <a:moveTo>
                  <a:pt x="0" y="0"/>
                </a:moveTo>
                <a:lnTo>
                  <a:pt x="8558066" y="0"/>
                </a:lnTo>
                <a:lnTo>
                  <a:pt x="8558066" y="8573655"/>
                </a:lnTo>
                <a:lnTo>
                  <a:pt x="0" y="85736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051691" y="-2380403"/>
            <a:ext cx="7258430" cy="7258430"/>
          </a:xfrm>
          <a:custGeom>
            <a:avLst/>
            <a:gdLst/>
            <a:ahLst/>
            <a:cxnLst/>
            <a:rect r="r" b="b" t="t" l="l"/>
            <a:pathLst>
              <a:path h="7258430" w="7258430">
                <a:moveTo>
                  <a:pt x="7258431" y="7258430"/>
                </a:moveTo>
                <a:lnTo>
                  <a:pt x="0" y="7258430"/>
                </a:lnTo>
                <a:lnTo>
                  <a:pt x="0" y="0"/>
                </a:lnTo>
                <a:lnTo>
                  <a:pt x="7258431" y="0"/>
                </a:lnTo>
                <a:lnTo>
                  <a:pt x="7258431" y="725843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286912"/>
            <a:ext cx="5825699" cy="1134757"/>
          </a:xfrm>
          <a:prstGeom prst="rect">
            <a:avLst/>
          </a:prstGeom>
        </p:spPr>
        <p:txBody>
          <a:bodyPr anchor="t" rtlCol="false" tIns="0" lIns="0" bIns="0" rIns="0">
            <a:spAutoFit/>
          </a:bodyPr>
          <a:lstStyle/>
          <a:p>
            <a:pPr algn="just" marL="0" indent="0" lvl="0">
              <a:lnSpc>
                <a:spcPts val="8980"/>
              </a:lnSpc>
            </a:pPr>
            <a:r>
              <a:rPr lang="en-US" sz="7741" spc="-363">
                <a:solidFill>
                  <a:srgbClr val="000000"/>
                </a:solidFill>
                <a:latin typeface="Sedgwick Ave"/>
                <a:ea typeface="Sedgwick Ave"/>
                <a:cs typeface="Sedgwick Ave"/>
                <a:sym typeface="Sedgwick Ave"/>
              </a:rPr>
              <a:t>SONUÇ</a:t>
            </a:r>
          </a:p>
        </p:txBody>
      </p:sp>
      <p:sp>
        <p:nvSpPr>
          <p:cNvPr name="TextBox 5" id="5"/>
          <p:cNvSpPr txBox="true"/>
          <p:nvPr/>
        </p:nvSpPr>
        <p:spPr>
          <a:xfrm rot="0">
            <a:off x="4173367" y="4601815"/>
            <a:ext cx="13085933" cy="5203337"/>
          </a:xfrm>
          <a:prstGeom prst="rect">
            <a:avLst/>
          </a:prstGeom>
        </p:spPr>
        <p:txBody>
          <a:bodyPr anchor="t" rtlCol="false" tIns="0" lIns="0" bIns="0" rIns="0">
            <a:spAutoFit/>
          </a:bodyPr>
          <a:lstStyle/>
          <a:p>
            <a:pPr algn="just" marL="576861" indent="-288430" lvl="1">
              <a:lnSpc>
                <a:spcPts val="3740"/>
              </a:lnSpc>
              <a:buAutoNum type="arabicPeriod" startAt="1"/>
            </a:pPr>
            <a:r>
              <a:rPr lang="en-US" sz="2671">
                <a:solidFill>
                  <a:srgbClr val="FFFFFF"/>
                </a:solidFill>
                <a:latin typeface="Arimo"/>
                <a:ea typeface="Arimo"/>
                <a:cs typeface="Arimo"/>
                <a:sym typeface="Arimo"/>
              </a:rPr>
              <a:t>YOLOv8 modeli, federated learning mimarisi ile 5 farklı istemcide eğitilmiş ve %88 doğruluk oranına ulaşmıştır.</a:t>
            </a:r>
          </a:p>
          <a:p>
            <a:pPr algn="just" marL="576861" indent="-288430" lvl="1">
              <a:lnSpc>
                <a:spcPts val="3740"/>
              </a:lnSpc>
              <a:buAutoNum type="arabicPeriod" startAt="1"/>
            </a:pPr>
            <a:r>
              <a:rPr lang="en-US" sz="2671">
                <a:solidFill>
                  <a:srgbClr val="FFFFFF"/>
                </a:solidFill>
                <a:latin typeface="Arimo"/>
                <a:ea typeface="Arimo"/>
                <a:cs typeface="Arimo"/>
                <a:sym typeface="Arimo"/>
              </a:rPr>
              <a:t>Non-IID veri dağılımı altında farklı tabela türleriyle test</a:t>
            </a:r>
            <a:r>
              <a:rPr lang="en-US" sz="2671">
                <a:solidFill>
                  <a:srgbClr val="FFFFFF"/>
                </a:solidFill>
                <a:latin typeface="Arimo"/>
                <a:ea typeface="Arimo"/>
                <a:cs typeface="Arimo"/>
                <a:sym typeface="Arimo"/>
              </a:rPr>
              <a:t> edilmiş ve sistem bu çeşitliliğe karşı yüksek genelleme başarısı göstermiştir.</a:t>
            </a:r>
          </a:p>
          <a:p>
            <a:pPr algn="just" marL="576861" indent="-288430" lvl="1">
              <a:lnSpc>
                <a:spcPts val="3740"/>
              </a:lnSpc>
              <a:buAutoNum type="arabicPeriod" startAt="1"/>
            </a:pPr>
            <a:r>
              <a:rPr lang="en-US" sz="2671">
                <a:solidFill>
                  <a:srgbClr val="FFFFFF"/>
                </a:solidFill>
                <a:latin typeface="Arimo"/>
                <a:ea typeface="Arimo"/>
                <a:cs typeface="Arimo"/>
                <a:sym typeface="Arimo"/>
              </a:rPr>
              <a:t>Gerçek zamanlı tespit, OpenCV tabanlı uygulama ile entegre edilmiş; kullanıcıya anlık görsel çıktı ve sesli yönlendirme sağlanmıştır.</a:t>
            </a:r>
          </a:p>
          <a:p>
            <a:pPr algn="just" marL="576861" indent="-288430" lvl="1">
              <a:lnSpc>
                <a:spcPts val="3740"/>
              </a:lnSpc>
              <a:buAutoNum type="arabicPeriod" startAt="1"/>
            </a:pPr>
            <a:r>
              <a:rPr lang="en-US" sz="2671">
                <a:solidFill>
                  <a:srgbClr val="FFFFFF"/>
                </a:solidFill>
                <a:latin typeface="Arimo"/>
                <a:ea typeface="Arimo"/>
                <a:cs typeface="Arimo"/>
                <a:sym typeface="Arimo"/>
              </a:rPr>
              <a:t>Veri gizliliği korunmuş, yalnızca model ağırlıkları paylaşılmış; böylece kullanıcı verisi cihazdan dışarı çıkmadan küresel model güncellenmiştir.</a:t>
            </a:r>
          </a:p>
          <a:p>
            <a:pPr algn="just" marL="576861" indent="-288430" lvl="1">
              <a:lnSpc>
                <a:spcPts val="3740"/>
              </a:lnSpc>
              <a:buAutoNum type="arabicPeriod" startAt="1"/>
            </a:pPr>
            <a:r>
              <a:rPr lang="en-US" sz="2671">
                <a:solidFill>
                  <a:srgbClr val="FFFFFF"/>
                </a:solidFill>
                <a:latin typeface="Arimo"/>
                <a:ea typeface="Arimo"/>
                <a:cs typeface="Arimo"/>
                <a:sym typeface="Arimo"/>
              </a:rPr>
              <a:t>Federated öğrenme, merkezi yapıya kıyasla dağınık ortamlarda bile yüksek doğruluk sağlamış ve akıllı şehir çözümleri için ölçeklenebilir bir mimari sunmuştur.</a:t>
            </a:r>
          </a:p>
          <a:p>
            <a:pPr algn="just">
              <a:lnSpc>
                <a:spcPts val="4028"/>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5400000">
            <a:off x="9153525" y="2144977"/>
            <a:ext cx="10458860" cy="10477911"/>
          </a:xfrm>
          <a:custGeom>
            <a:avLst/>
            <a:gdLst/>
            <a:ahLst/>
            <a:cxnLst/>
            <a:rect r="r" b="b" t="t" l="l"/>
            <a:pathLst>
              <a:path h="10477911" w="10458860">
                <a:moveTo>
                  <a:pt x="10458860" y="0"/>
                </a:moveTo>
                <a:lnTo>
                  <a:pt x="0" y="0"/>
                </a:lnTo>
                <a:lnTo>
                  <a:pt x="0" y="10477910"/>
                </a:lnTo>
                <a:lnTo>
                  <a:pt x="10458860" y="10477910"/>
                </a:lnTo>
                <a:lnTo>
                  <a:pt x="1045886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26556" y="-1126556"/>
            <a:ext cx="4310512" cy="4310512"/>
          </a:xfrm>
          <a:custGeom>
            <a:avLst/>
            <a:gdLst/>
            <a:ahLst/>
            <a:cxnLst/>
            <a:rect r="r" b="b" t="t" l="l"/>
            <a:pathLst>
              <a:path h="4310512" w="4310512">
                <a:moveTo>
                  <a:pt x="4310512" y="4310512"/>
                </a:moveTo>
                <a:lnTo>
                  <a:pt x="0" y="4310512"/>
                </a:lnTo>
                <a:lnTo>
                  <a:pt x="0" y="0"/>
                </a:lnTo>
                <a:lnTo>
                  <a:pt x="4310512" y="0"/>
                </a:lnTo>
                <a:lnTo>
                  <a:pt x="4310512" y="43105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180955" y="2503843"/>
            <a:ext cx="7868678" cy="1226877"/>
          </a:xfrm>
          <a:prstGeom prst="rect">
            <a:avLst/>
          </a:prstGeom>
        </p:spPr>
        <p:txBody>
          <a:bodyPr anchor="t" rtlCol="false" tIns="0" lIns="0" bIns="0" rIns="0">
            <a:spAutoFit/>
          </a:bodyPr>
          <a:lstStyle/>
          <a:p>
            <a:pPr algn="ctr">
              <a:lnSpc>
                <a:spcPts val="10079"/>
              </a:lnSpc>
            </a:pPr>
            <a:r>
              <a:rPr lang="en-US" sz="7199">
                <a:solidFill>
                  <a:srgbClr val="FFFFFF"/>
                </a:solidFill>
                <a:latin typeface="Sedgwick Ave"/>
                <a:ea typeface="Sedgwick Ave"/>
                <a:cs typeface="Sedgwick Ave"/>
                <a:sym typeface="Sedgwick Ave"/>
              </a:rPr>
              <a:t>Kullanılan Teknolojiler</a:t>
            </a:r>
          </a:p>
        </p:txBody>
      </p:sp>
      <p:sp>
        <p:nvSpPr>
          <p:cNvPr name="TextBox 5" id="5"/>
          <p:cNvSpPr txBox="true"/>
          <p:nvPr/>
        </p:nvSpPr>
        <p:spPr>
          <a:xfrm rot="0">
            <a:off x="2760463" y="4401935"/>
            <a:ext cx="13718774" cy="2686511"/>
          </a:xfrm>
          <a:prstGeom prst="rect">
            <a:avLst/>
          </a:prstGeom>
        </p:spPr>
        <p:txBody>
          <a:bodyPr anchor="t" rtlCol="false" tIns="0" lIns="0" bIns="0" rIns="0">
            <a:spAutoFit/>
          </a:bodyPr>
          <a:lstStyle/>
          <a:p>
            <a:pPr algn="just" marL="656024" indent="-328012" lvl="1">
              <a:lnSpc>
                <a:spcPts val="4253"/>
              </a:lnSpc>
              <a:buAutoNum type="arabicPeriod" startAt="1"/>
            </a:pPr>
            <a:r>
              <a:rPr lang="en-US" sz="3038">
                <a:solidFill>
                  <a:srgbClr val="FFFFFF"/>
                </a:solidFill>
                <a:latin typeface="Arimo"/>
                <a:ea typeface="Arimo"/>
                <a:cs typeface="Arimo"/>
                <a:sym typeface="Arimo"/>
              </a:rPr>
              <a:t>• YOLOv8 – Nesne tespiti için gelişmiş derin öğrenme modeli  </a:t>
            </a:r>
          </a:p>
          <a:p>
            <a:pPr algn="just" marL="656024" indent="-328012" lvl="1">
              <a:lnSpc>
                <a:spcPts val="4253"/>
              </a:lnSpc>
              <a:buAutoNum type="arabicPeriod" startAt="1"/>
            </a:pPr>
            <a:r>
              <a:rPr lang="en-US" sz="3038">
                <a:solidFill>
                  <a:srgbClr val="FFFFFF"/>
                </a:solidFill>
                <a:latin typeface="Arimo"/>
                <a:ea typeface="Arimo"/>
                <a:cs typeface="Arimo"/>
                <a:sym typeface="Arimo"/>
              </a:rPr>
              <a:t>• Federated Learning (Flower) – Dağıtık ve gizliliğe duyarlı model eğitimi  </a:t>
            </a:r>
          </a:p>
          <a:p>
            <a:pPr algn="just" marL="656024" indent="-328012" lvl="1">
              <a:lnSpc>
                <a:spcPts val="4253"/>
              </a:lnSpc>
              <a:buAutoNum type="arabicPeriod" startAt="1"/>
            </a:pPr>
            <a:r>
              <a:rPr lang="en-US" sz="3038">
                <a:solidFill>
                  <a:srgbClr val="FFFFFF"/>
                </a:solidFill>
                <a:latin typeface="Arimo"/>
                <a:ea typeface="Arimo"/>
                <a:cs typeface="Arimo"/>
                <a:sym typeface="Arimo"/>
              </a:rPr>
              <a:t>• </a:t>
            </a:r>
            <a:r>
              <a:rPr lang="en-US" sz="3038">
                <a:solidFill>
                  <a:srgbClr val="FFFFFF"/>
                </a:solidFill>
                <a:latin typeface="Arimo"/>
                <a:ea typeface="Arimo"/>
                <a:cs typeface="Arimo"/>
                <a:sym typeface="Arimo"/>
              </a:rPr>
              <a:t>PyTorch – Derin öğrenme modeli geliştirme ve eğitim framework’ü  </a:t>
            </a:r>
          </a:p>
          <a:p>
            <a:pPr algn="just" marL="656024" indent="-328012" lvl="1">
              <a:lnSpc>
                <a:spcPts val="4253"/>
              </a:lnSpc>
              <a:buAutoNum type="arabicPeriod" startAt="1"/>
            </a:pPr>
            <a:r>
              <a:rPr lang="en-US" sz="3038">
                <a:solidFill>
                  <a:srgbClr val="FFFFFF"/>
                </a:solidFill>
                <a:latin typeface="Arimo"/>
                <a:ea typeface="Arimo"/>
                <a:cs typeface="Arimo"/>
                <a:sym typeface="Arimo"/>
              </a:rPr>
              <a:t>• OpenCV – Gerçek zamanlı görüntü işleme  </a:t>
            </a:r>
          </a:p>
          <a:p>
            <a:pPr algn="just" marL="656024" indent="-328012" lvl="1">
              <a:lnSpc>
                <a:spcPts val="4253"/>
              </a:lnSpc>
              <a:buAutoNum type="arabicPeriod" startAt="1"/>
            </a:pPr>
            <a:r>
              <a:rPr lang="en-US" sz="3038">
                <a:solidFill>
                  <a:srgbClr val="FFFFFF"/>
                </a:solidFill>
                <a:latin typeface="Arimo"/>
                <a:ea typeface="Arimo"/>
                <a:cs typeface="Arimo"/>
                <a:sym typeface="Arimo"/>
              </a:rPr>
              <a:t>• Tesseract OCR – Tabela metinlerinin optik karakter tanıması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43169" y="-2557831"/>
            <a:ext cx="7401663" cy="18288000"/>
          </a:xfrm>
          <a:custGeom>
            <a:avLst/>
            <a:gdLst/>
            <a:ahLst/>
            <a:cxnLst/>
            <a:rect r="r" b="b" t="t" l="l"/>
            <a:pathLst>
              <a:path h="18288000" w="7401663">
                <a:moveTo>
                  <a:pt x="0" y="0"/>
                </a:moveTo>
                <a:lnTo>
                  <a:pt x="7401662" y="0"/>
                </a:lnTo>
                <a:lnTo>
                  <a:pt x="7401662" y="18288000"/>
                </a:lnTo>
                <a:lnTo>
                  <a:pt x="0" y="18288000"/>
                </a:lnTo>
                <a:lnTo>
                  <a:pt x="0" y="0"/>
                </a:lnTo>
                <a:close/>
              </a:path>
            </a:pathLst>
          </a:custGeom>
          <a:blipFill>
            <a:blip r:embed="rId2">
              <a:extLst>
                <a:ext uri="{96DAC541-7B7A-43D3-8B79-37D633B846F1}">
                  <asvg:svgBlip xmlns:asvg="http://schemas.microsoft.com/office/drawing/2016/SVG/main" r:embed="rId3"/>
                </a:ext>
              </a:extLst>
            </a:blip>
            <a:stretch>
              <a:fillRect l="-37016" t="0" r="0" b="0"/>
            </a:stretch>
          </a:blipFill>
        </p:spPr>
      </p:sp>
      <p:sp>
        <p:nvSpPr>
          <p:cNvPr name="Freeform 3" id="3"/>
          <p:cNvSpPr/>
          <p:nvPr/>
        </p:nvSpPr>
        <p:spPr>
          <a:xfrm flipH="false" flipV="false" rot="0">
            <a:off x="14950740" y="7426878"/>
            <a:ext cx="3243437" cy="2860122"/>
          </a:xfrm>
          <a:custGeom>
            <a:avLst/>
            <a:gdLst/>
            <a:ahLst/>
            <a:cxnLst/>
            <a:rect r="r" b="b" t="t" l="l"/>
            <a:pathLst>
              <a:path h="2860122" w="3243437">
                <a:moveTo>
                  <a:pt x="0" y="0"/>
                </a:moveTo>
                <a:lnTo>
                  <a:pt x="3243437" y="0"/>
                </a:lnTo>
                <a:lnTo>
                  <a:pt x="3243437" y="2860122"/>
                </a:lnTo>
                <a:lnTo>
                  <a:pt x="0" y="28601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04523" y="344327"/>
            <a:ext cx="3125161" cy="3649823"/>
          </a:xfrm>
          <a:custGeom>
            <a:avLst/>
            <a:gdLst/>
            <a:ahLst/>
            <a:cxnLst/>
            <a:rect r="r" b="b" t="t" l="l"/>
            <a:pathLst>
              <a:path h="3649823" w="3125161">
                <a:moveTo>
                  <a:pt x="0" y="0"/>
                </a:moveTo>
                <a:lnTo>
                  <a:pt x="3125161" y="0"/>
                </a:lnTo>
                <a:lnTo>
                  <a:pt x="3125161" y="3649823"/>
                </a:lnTo>
                <a:lnTo>
                  <a:pt x="0" y="3649823"/>
                </a:lnTo>
                <a:lnTo>
                  <a:pt x="0" y="0"/>
                </a:lnTo>
                <a:close/>
              </a:path>
            </a:pathLst>
          </a:custGeom>
          <a:blipFill>
            <a:blip r:embed="rId6"/>
            <a:stretch>
              <a:fillRect l="0" t="0" r="0" b="0"/>
            </a:stretch>
          </a:blipFill>
        </p:spPr>
      </p:sp>
      <p:sp>
        <p:nvSpPr>
          <p:cNvPr name="TextBox 5" id="5"/>
          <p:cNvSpPr txBox="true"/>
          <p:nvPr/>
        </p:nvSpPr>
        <p:spPr>
          <a:xfrm rot="0">
            <a:off x="3522607" y="4427814"/>
            <a:ext cx="13049851" cy="2432050"/>
          </a:xfrm>
          <a:prstGeom prst="rect">
            <a:avLst/>
          </a:prstGeom>
        </p:spPr>
        <p:txBody>
          <a:bodyPr anchor="t" rtlCol="false" tIns="0" lIns="0" bIns="0" rIns="0">
            <a:spAutoFit/>
          </a:bodyPr>
          <a:lstStyle/>
          <a:p>
            <a:pPr algn="ctr" marL="0" indent="0" lvl="0">
              <a:lnSpc>
                <a:spcPts val="9799"/>
              </a:lnSpc>
              <a:spcBef>
                <a:spcPct val="0"/>
              </a:spcBef>
            </a:pPr>
            <a:r>
              <a:rPr lang="en-US" sz="6999" spc="-328">
                <a:solidFill>
                  <a:srgbClr val="FFFFFF"/>
                </a:solidFill>
                <a:latin typeface="Sedgwick Ave"/>
                <a:ea typeface="Sedgwick Ave"/>
                <a:cs typeface="Sedgwick Ave"/>
                <a:sym typeface="Sedgwick Ave"/>
              </a:rPr>
              <a:t>DİNLEDİĞİNİZ İÇİN TEŞEKKÜR EDERİM</a:t>
            </a:r>
          </a:p>
        </p:txBody>
      </p:sp>
      <p:sp>
        <p:nvSpPr>
          <p:cNvPr name="TextBox 6" id="6"/>
          <p:cNvSpPr txBox="true"/>
          <p:nvPr/>
        </p:nvSpPr>
        <p:spPr>
          <a:xfrm rot="0">
            <a:off x="8496029" y="8835324"/>
            <a:ext cx="1274721" cy="422976"/>
          </a:xfrm>
          <a:prstGeom prst="rect">
            <a:avLst/>
          </a:prstGeom>
        </p:spPr>
        <p:txBody>
          <a:bodyPr anchor="t" rtlCol="false" tIns="0" lIns="0" bIns="0" rIns="0">
            <a:spAutoFit/>
          </a:bodyPr>
          <a:lstStyle/>
          <a:p>
            <a:pPr algn="ctr">
              <a:lnSpc>
                <a:spcPts val="3461"/>
              </a:lnSpc>
            </a:pPr>
            <a:r>
              <a:rPr lang="en-US" sz="2472">
                <a:solidFill>
                  <a:srgbClr val="FFFFFF"/>
                </a:solidFill>
                <a:latin typeface="Open Sauce"/>
                <a:ea typeface="Open Sauce"/>
                <a:cs typeface="Open Sauce"/>
                <a:sym typeface="Open Sauce"/>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DAGqZ3zXRSo</dc:identifier>
  <dcterms:modified xsi:type="dcterms:W3CDTF">2011-08-01T06:04:30Z</dcterms:modified>
  <cp:revision>1</cp:revision>
  <dc:title>Introduction to</dc:title>
</cp:coreProperties>
</file>